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Buongiorno a tutti. La Smart City moderna si fonda sulla fiducia dei cittadini e sull'interoperabilità dei servizi digitali. Eppure, ogni giorno, oltre 7.900 Comuni italiani pubblicano online decine di atti amministrativi dove, per un banale errore umano, finiscono in rete diagnosi oncologiche, disabilità di minori, ISEE e IBAN. Abbiamo creato Albo Sicuro: l'auditor intelligente per la Smart City che previene, intercetta e bonifica i leak di dati personali nella PA prima che diventino danni irreversibili e pesanti sanzioni del Garante.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legge impone la trasparenza amministrativa, ma il GDPR vieta categoricamente la diffusione di dati sensibili. Oggi la responsabilità ricade interamente su singoli funzionari: basta una svista in una determina per buoni spesa per esporre l'indigenza di decine di famiglie. Per l'amministrazione questo non è solo un grave danno etico e reputazionale: significa contenziosi legali, danno erariale e sanzioni pesantissime da parte del Garante.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Albo Sicuro interviene su due livelli: A monte, come Gatekeeper: prima della pubblicazione, il funzionario carica il documento; la piattaforma individua le criticità e genera con un clic la versione conforme pronta per la firma. A valle, come Watchdog Continuo: un demone indipendente sorveglia costantemente l'albo, segnala all'istante le falle sfuggite ai controlli manuali e calcola i giorni di esposizione per consentire una bonifica tempestiva.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maggior rischio nell'applicare l'IA alla privacy è inviare dati di cittadini a provider cloud esterni. Noi abbiamo applicato un'architettura rigorosa di Privacy by Design e Trustworthy AI: prima dell'analisi, un motore locale sostituisce ogni dato identificativo con token astratti. L'IA vede solo che [PERSONA_1] beneficia di un sussidio per grave disabilità e deduce la non conformità senza mai conoscere l'identità del cittadino. E per la bonifica finale, usiamo redazione vettoriale irreversibile: il dato sensibile cessa fisicamente di esistere all'interno del file.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Ecco Albo Sicuro in azione: il nostro demone intercetta una determina con i beneficiari dei buoni spesa e relativi ISEE. Il sistema accende il semaforo rosso e richiama dalla knowledge base il precedente ufficiale del Garante: 'Attenzione, per un caso analogo il Comune di Tricase è stato sanzionato per 15.000 euro'. Il responsabile visualizza i passaggi critici evidenziati e, con un singolo clic, scarica la versione bonificata pronta per la sostituzione, sanando l'incidente in pochi secondi e registrando l'evento nell'audit trail.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nostro modello non richiede ai Comuni di cambiare software gestionale: Albo Sicuro è progettato come middleware API integrabile nelle soluzioni che grandi player come DXC già forniscono alla PA. Per una qualsiasi amministrazione il ritorno sull'investimento è immediato: evitare anche una sola sanzione da 20.000 euro o un contenzioso legale ripaga il canone del servizio per diversi anni, garantendo ai vertici amministrativi la serenità dell'accountability GDPR.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vera digitalizzazione di una Smart City non consiste nel pubblicare indiscriminatamente tutto online, ma nel tutelare i dati dei cittadini mentre si rende la città più trasparente e intelligente. Albo Sicuro trasforma la compliance da rischio paralizzante a garanzia automatica e scalabile per la Smart City. Grazie per l'attenzione, siamo aperti alle vostre domande!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188720"/>
            <a:ext cx="4389120" cy="411480"/>
          </a:xfrm>
          <a:prstGeom prst="roundRect">
            <a:avLst/>
          </a:prstGeom>
          <a:solidFill>
            <a:srgbClr val="1E293B"/>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A5F3FC"/>
                </a:solidFill>
              </a:defRPr>
            </a:pPr>
            <a:r>
              <a:t>FOCUS GIURIA: DELOITTE | DXC TECHNOLOGY | ENEL</a:t>
            </a:r>
          </a:p>
        </p:txBody>
      </p:sp>
      <p:sp>
        <p:nvSpPr>
          <p:cNvPr id="4" name="TextBox 3"/>
          <p:cNvSpPr txBox="1"/>
          <p:nvPr/>
        </p:nvSpPr>
        <p:spPr>
          <a:xfrm>
            <a:off x="731520" y="1828800"/>
            <a:ext cx="10515600" cy="1188720"/>
          </a:xfrm>
          <a:prstGeom prst="rect">
            <a:avLst/>
          </a:prstGeom>
          <a:noFill/>
        </p:spPr>
        <p:txBody>
          <a:bodyPr wrap="none">
            <a:spAutoFit/>
          </a:bodyPr>
          <a:lstStyle/>
          <a:p>
            <a:pPr>
              <a:defRPr sz="5400" b="1">
                <a:solidFill>
                  <a:srgbClr val="FFFFFF"/>
                </a:solidFill>
              </a:defRPr>
            </a:pPr>
            <a:r>
              <a:t>Albo Sicuro</a:t>
            </a:r>
          </a:p>
        </p:txBody>
      </p:sp>
      <p:sp>
        <p:nvSpPr>
          <p:cNvPr id="5" name="TextBox 4"/>
          <p:cNvSpPr txBox="1"/>
          <p:nvPr/>
        </p:nvSpPr>
        <p:spPr>
          <a:xfrm>
            <a:off x="731520" y="3017520"/>
            <a:ext cx="10058400" cy="1097280"/>
          </a:xfrm>
          <a:prstGeom prst="rect">
            <a:avLst/>
          </a:prstGeom>
          <a:noFill/>
        </p:spPr>
        <p:txBody>
          <a:bodyPr wrap="square">
            <a:spAutoFit/>
          </a:bodyPr>
          <a:lstStyle/>
          <a:p>
            <a:pPr>
              <a:defRPr sz="2200">
                <a:solidFill>
                  <a:srgbClr val="CBD5E1"/>
                </a:solidFill>
              </a:defRPr>
            </a:pPr>
            <a:r>
              <a:t>Privacy &amp; Security Auditor per la Smart City e la Pubblica Amministrazione</a:t>
            </a:r>
          </a:p>
        </p:txBody>
      </p:sp>
      <p:sp>
        <p:nvSpPr>
          <p:cNvPr id="6" name="Rounded Rectangle 5"/>
          <p:cNvSpPr/>
          <p:nvPr/>
        </p:nvSpPr>
        <p:spPr>
          <a:xfrm>
            <a:off x="731520" y="4297680"/>
            <a:ext cx="3291840" cy="100584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182880" lIns="228600" rIns="228600" wrap="square"/>
          <a:lstStyle/>
          <a:p>
            <a:pPr algn="ctr">
              <a:spcAft>
                <a:spcPts val="400"/>
              </a:spcAft>
              <a:defRPr sz="1000" b="1">
                <a:solidFill>
                  <a:srgbClr val="10B981"/>
                </a:solidFill>
              </a:defRPr>
            </a:pPr>
            <a:r>
              <a:t>DELOITTE FOCUS</a:t>
            </a:r>
          </a:p>
          <a:p>
            <a:pPr>
              <a:defRPr sz="1200" b="1">
                <a:solidFill>
                  <a:srgbClr val="FFFFFF"/>
                </a:solidFill>
              </a:defRPr>
            </a:pPr>
            <a:r>
              <a:t>Trustworthy AI &amp; Zero-Knowledge</a:t>
            </a:r>
          </a:p>
        </p:txBody>
      </p:sp>
      <p:sp>
        <p:nvSpPr>
          <p:cNvPr id="7" name="Rounded Rectangle 6"/>
          <p:cNvSpPr/>
          <p:nvPr/>
        </p:nvSpPr>
        <p:spPr>
          <a:xfrm>
            <a:off x="4297680" y="4297680"/>
            <a:ext cx="3291840" cy="100584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tIns="182880" lIns="228600" rIns="228600" wrap="square"/>
          <a:lstStyle/>
          <a:p>
            <a:pPr algn="ctr">
              <a:spcAft>
                <a:spcPts val="400"/>
              </a:spcAft>
              <a:defRPr sz="1000" b="1">
                <a:solidFill>
                  <a:srgbClr val="2563EB"/>
                </a:solidFill>
              </a:defRPr>
            </a:pPr>
            <a:r>
              <a:t>DXC FOCUS</a:t>
            </a:r>
          </a:p>
          <a:p>
            <a:pPr>
              <a:defRPr sz="1200" b="1">
                <a:solidFill>
                  <a:srgbClr val="FFFFFF"/>
                </a:solidFill>
              </a:defRPr>
            </a:pPr>
            <a:r>
              <a:t>Enterprise Middleware API-first</a:t>
            </a:r>
          </a:p>
        </p:txBody>
      </p:sp>
      <p:sp>
        <p:nvSpPr>
          <p:cNvPr id="8" name="Rounded Rectangle 7"/>
          <p:cNvSpPr/>
          <p:nvPr/>
        </p:nvSpPr>
        <p:spPr>
          <a:xfrm>
            <a:off x="7863840" y="4297680"/>
            <a:ext cx="3291840" cy="100584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tIns="182880" lIns="228600" rIns="228600" wrap="square"/>
          <a:lstStyle/>
          <a:p>
            <a:pPr algn="ctr">
              <a:spcAft>
                <a:spcPts val="400"/>
              </a:spcAft>
              <a:defRPr sz="1000" b="1">
                <a:solidFill>
                  <a:srgbClr val="06B6D4"/>
                </a:solidFill>
              </a:defRPr>
            </a:pPr>
            <a:r>
              <a:t>ENEL FOCUS</a:t>
            </a:r>
          </a:p>
          <a:p>
            <a:pPr>
              <a:defRPr sz="1200" b="1">
                <a:solidFill>
                  <a:srgbClr val="FFFFFF"/>
                </a:solidFill>
              </a:defRPr>
            </a:pPr>
            <a:r>
              <a:t>Smart City &amp; Urban Data Protection</a:t>
            </a:r>
          </a:p>
        </p:txBody>
      </p:sp>
      <p:sp>
        <p:nvSpPr>
          <p:cNvPr id="9" name="TextBox 8"/>
          <p:cNvSpPr txBox="1"/>
          <p:nvPr/>
        </p:nvSpPr>
        <p:spPr>
          <a:xfrm>
            <a:off x="731520" y="5760720"/>
            <a:ext cx="10515600" cy="457200"/>
          </a:xfrm>
          <a:prstGeom prst="rect">
            <a:avLst/>
          </a:prstGeom>
          <a:noFill/>
        </p:spPr>
        <p:txBody>
          <a:bodyPr wrap="none">
            <a:spAutoFit/>
          </a:bodyPr>
          <a:lstStyle/>
          <a:p>
            <a:pPr>
              <a:defRPr sz="1100">
                <a:solidFill>
                  <a:srgbClr val="94A3B8"/>
                </a:solidFill>
              </a:defRPr>
            </a:pPr>
            <a:r>
              <a:t>Campionato Universitario AI 2026 | DIGITA Academy — Napoli | Traccia 2: PRIVACY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000" b="1">
                <a:solidFill>
                  <a:srgbClr val="2563EB"/>
                </a:solidFill>
              </a:defRPr>
            </a:pPr>
            <a:r>
              <a:t>GOVERNANCE, RISCHIO &amp; COMPLIANCE (FOCUS DELOITTE)</a:t>
            </a:r>
          </a:p>
        </p:txBody>
      </p:sp>
      <p:sp>
        <p:nvSpPr>
          <p:cNvPr id="4" name="TextBox 3"/>
          <p:cNvSpPr txBox="1"/>
          <p:nvPr/>
        </p:nvSpPr>
        <p:spPr>
          <a:xfrm>
            <a:off x="731520" y="777240"/>
            <a:ext cx="10698480" cy="640080"/>
          </a:xfrm>
          <a:prstGeom prst="rect">
            <a:avLst/>
          </a:prstGeom>
          <a:noFill/>
        </p:spPr>
        <p:txBody>
          <a:bodyPr wrap="square">
            <a:spAutoFit/>
          </a:bodyPr>
          <a:lstStyle/>
          <a:p>
            <a:pPr>
              <a:defRPr sz="2400" b="1">
                <a:solidFill>
                  <a:srgbClr val="0F172A"/>
                </a:solidFill>
              </a:defRPr>
            </a:pPr>
            <a:r>
              <a:t>Il Costo dell'Errore Umano nella Trasparenza Pubblica</a:t>
            </a:r>
          </a:p>
        </p:txBody>
      </p:sp>
      <p:sp>
        <p:nvSpPr>
          <p:cNvPr id="5" name="Rounded Rectangle 4"/>
          <p:cNvSpPr/>
          <p:nvPr/>
        </p:nvSpPr>
        <p:spPr>
          <a:xfrm>
            <a:off x="731520" y="1645920"/>
            <a:ext cx="33832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tIns="365760" lIns="274320" rIns="274320" wrap="square"/>
          <a:lstStyle/>
          <a:p>
            <a:pPr algn="ctr">
              <a:spcAft>
                <a:spcPts val="800"/>
              </a:spcAft>
              <a:defRPr sz="2100" b="1">
                <a:solidFill>
                  <a:srgbClr val="EF4444"/>
                </a:solidFill>
              </a:defRPr>
            </a:pPr>
            <a:r>
              <a:t>€ 10.000 – € 50.000</a:t>
            </a:r>
          </a:p>
          <a:p>
            <a:pPr>
              <a:spcAft>
                <a:spcPts val="1400"/>
              </a:spcAft>
              <a:defRPr sz="1500" b="1">
                <a:solidFill>
                  <a:srgbClr val="0F172A"/>
                </a:solidFill>
              </a:defRPr>
            </a:pPr>
            <a:r>
              <a:t>Sanzione Media per Singolo Atto</a:t>
            </a:r>
          </a:p>
          <a:p>
            <a:pPr>
              <a:defRPr sz="1200">
                <a:solidFill>
                  <a:srgbClr val="64748B"/>
                </a:solidFill>
              </a:defRPr>
            </a:pPr>
            <a:r>
              <a:t>Il Garante della Privacy non ammette l'errore materiale: la responsabilità del Titolare è oggettiva (violazione Art. 2-septies Codice Privacy e Art. 26 D.Lgs. 33/2013).</a:t>
            </a:r>
          </a:p>
        </p:txBody>
      </p:sp>
      <p:sp>
        <p:nvSpPr>
          <p:cNvPr id="6" name="Rectangle 5"/>
          <p:cNvSpPr/>
          <p:nvPr/>
        </p:nvSpPr>
        <p:spPr>
          <a:xfrm>
            <a:off x="731520" y="1645920"/>
            <a:ext cx="3383280" cy="109728"/>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389120" y="1645920"/>
            <a:ext cx="33832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tIns="365760" lIns="274320" rIns="274320" wrap="square"/>
          <a:lstStyle/>
          <a:p>
            <a:pPr algn="ctr">
              <a:spcAft>
                <a:spcPts val="800"/>
              </a:spcAft>
              <a:defRPr sz="2100" b="1">
                <a:solidFill>
                  <a:srgbClr val="F59E0B"/>
                </a:solidFill>
              </a:defRPr>
            </a:pPr>
            <a:r>
              <a:t>15 Giorni vs Permanente</a:t>
            </a:r>
          </a:p>
          <a:p>
            <a:pPr>
              <a:spcAft>
                <a:spcPts val="1400"/>
              </a:spcAft>
              <a:defRPr sz="1500" b="1">
                <a:solidFill>
                  <a:srgbClr val="0F172A"/>
                </a:solidFill>
              </a:defRPr>
            </a:pPr>
            <a:r>
              <a:t>Perdita Reale dell'Oblio</a:t>
            </a:r>
          </a:p>
          <a:p>
            <a:pPr>
              <a:defRPr sz="1200">
                <a:solidFill>
                  <a:srgbClr val="64748B"/>
                </a:solidFill>
              </a:defRPr>
            </a:pPr>
            <a:r>
              <a:t>L'affissione legale dura 15 giorni, ma i PDF restano scaricabili e indicizzati dai motori di ricerca per anni, creando esposizione permanente per l'ente.</a:t>
            </a:r>
          </a:p>
        </p:txBody>
      </p:sp>
      <p:sp>
        <p:nvSpPr>
          <p:cNvPr id="8" name="Rectangle 7"/>
          <p:cNvSpPr/>
          <p:nvPr/>
        </p:nvSpPr>
        <p:spPr>
          <a:xfrm>
            <a:off x="4389120" y="1645920"/>
            <a:ext cx="3383280" cy="1097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0" y="1645920"/>
            <a:ext cx="33832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tIns="365760" lIns="274320" rIns="274320" wrap="square"/>
          <a:lstStyle/>
          <a:p>
            <a:pPr algn="ctr">
              <a:spcAft>
                <a:spcPts val="800"/>
              </a:spcAft>
              <a:defRPr sz="2100" b="1">
                <a:solidFill>
                  <a:srgbClr val="2563EB"/>
                </a:solidFill>
              </a:defRPr>
            </a:pPr>
            <a:r>
              <a:t>Zero Filtri Intelligenti</a:t>
            </a:r>
          </a:p>
          <a:p>
            <a:pPr>
              <a:spcAft>
                <a:spcPts val="1400"/>
              </a:spcAft>
              <a:defRPr sz="1500" b="1">
                <a:solidFill>
                  <a:srgbClr val="0F172A"/>
                </a:solidFill>
              </a:defRPr>
            </a:pPr>
            <a:r>
              <a:t>Responsabilità sul Funzionario</a:t>
            </a:r>
          </a:p>
          <a:p>
            <a:pPr>
              <a:defRPr sz="1200">
                <a:solidFill>
                  <a:srgbClr val="64748B"/>
                </a:solidFill>
              </a:defRPr>
            </a:pPr>
            <a:r>
              <a:t>I funzionari comunali validano a mano centinaia di allegati complessi ogni giorno con software legacy, senza alcun layer di controllo automatico di conformità.</a:t>
            </a:r>
          </a:p>
        </p:txBody>
      </p:sp>
      <p:sp>
        <p:nvSpPr>
          <p:cNvPr id="10" name="Rectangle 9"/>
          <p:cNvSpPr/>
          <p:nvPr/>
        </p:nvSpPr>
        <p:spPr>
          <a:xfrm>
            <a:off x="8046720" y="1645920"/>
            <a:ext cx="3383280"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000" b="1">
                <a:solidFill>
                  <a:srgbClr val="2563EB"/>
                </a:solidFill>
              </a:defRPr>
            </a:pPr>
            <a:r>
              <a:t>ARCHITETTURA A DOPPIO LIVELLO (GATEKEEPER &amp; WATCHDOG)</a:t>
            </a:r>
          </a:p>
        </p:txBody>
      </p:sp>
      <p:sp>
        <p:nvSpPr>
          <p:cNvPr id="4" name="TextBox 3"/>
          <p:cNvSpPr txBox="1"/>
          <p:nvPr/>
        </p:nvSpPr>
        <p:spPr>
          <a:xfrm>
            <a:off x="731520" y="777240"/>
            <a:ext cx="10698480" cy="640080"/>
          </a:xfrm>
          <a:prstGeom prst="rect">
            <a:avLst/>
          </a:prstGeom>
          <a:noFill/>
        </p:spPr>
        <p:txBody>
          <a:bodyPr wrap="square">
            <a:spAutoFit/>
          </a:bodyPr>
          <a:lstStyle/>
          <a:p>
            <a:pPr>
              <a:defRPr sz="2400" b="1">
                <a:solidFill>
                  <a:srgbClr val="0F172A"/>
                </a:solidFill>
              </a:defRPr>
            </a:pPr>
            <a:r>
              <a:t>Albo Sicuro: Protezione Preventiva e Continua</a:t>
            </a:r>
          </a:p>
        </p:txBody>
      </p:sp>
      <p:sp>
        <p:nvSpPr>
          <p:cNvPr id="5" name="Rounded Rectangle 4"/>
          <p:cNvSpPr/>
          <p:nvPr/>
        </p:nvSpPr>
        <p:spPr>
          <a:xfrm>
            <a:off x="731520" y="1645920"/>
            <a:ext cx="52120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05840" y="1920240"/>
            <a:ext cx="4663440" cy="73152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2563EB"/>
                </a:solidFill>
              </a:defRPr>
            </a:pPr>
            <a:r>
              <a:t>1. Gatekeeper Preventivo (Pre-Rilascio)</a:t>
            </a:r>
          </a:p>
          <a:p>
            <a:pPr>
              <a:defRPr sz="850" b="1">
                <a:solidFill>
                  <a:srgbClr val="64748B"/>
                </a:solidFill>
              </a:defRPr>
            </a:pPr>
            <a:r>
              <a:t>CONTROLLO QUALITÀ E BONIFICA PRIMA DELLA PUBBLICAZIONE</a:t>
            </a:r>
          </a:p>
        </p:txBody>
      </p:sp>
      <p:sp>
        <p:nvSpPr>
          <p:cNvPr id="7" name="TextBox 6"/>
          <p:cNvSpPr txBox="1"/>
          <p:nvPr/>
        </p:nvSpPr>
        <p:spPr>
          <a:xfrm>
            <a:off x="1005840" y="2834640"/>
            <a:ext cx="4663440" cy="3017520"/>
          </a:xfrm>
          <a:prstGeom prst="rect">
            <a:avLst/>
          </a:prstGeom>
          <a:noFill/>
        </p:spPr>
        <p:txBody>
          <a:bodyPr wrap="square">
            <a:spAutoFit/>
          </a:bodyPr>
          <a:lstStyle/>
          <a:p>
            <a:pPr>
              <a:spcBef>
                <a:spcPts val="800"/>
              </a:spcBef>
              <a:defRPr sz="1300" b="1">
                <a:solidFill>
                  <a:srgbClr val="0F172A"/>
                </a:solidFill>
              </a:defRPr>
            </a:pPr>
            <a:r>
              <a:t>• Upload &amp; Validazione Istantanea</a:t>
            </a:r>
          </a:p>
          <a:p>
            <a:pPr>
              <a:spcAft>
                <a:spcPts val="600"/>
              </a:spcAft>
              <a:defRPr sz="1100">
                <a:solidFill>
                  <a:srgbClr val="64748B"/>
                </a:solidFill>
              </a:defRPr>
            </a:pPr>
            <a:r>
              <a:t>  Il funzionario carica la bozza dell'atto; la piattaforma individua entità e frasi critiche.</a:t>
            </a:r>
          </a:p>
          <a:p>
            <a:pPr>
              <a:spcBef>
                <a:spcPts val="800"/>
              </a:spcBef>
              <a:defRPr sz="1300" b="1">
                <a:solidFill>
                  <a:srgbClr val="0F172A"/>
                </a:solidFill>
              </a:defRPr>
            </a:pPr>
            <a:r>
              <a:t>• Explainable AI &amp; Precedenti</a:t>
            </a:r>
          </a:p>
          <a:p>
            <a:pPr>
              <a:spcAft>
                <a:spcPts val="600"/>
              </a:spcAft>
              <a:defRPr sz="1100">
                <a:solidFill>
                  <a:srgbClr val="64748B"/>
                </a:solidFill>
              </a:defRPr>
            </a:pPr>
            <a:r>
              <a:t>  L'algoritmo cita l'articolo di legge violato e associa il provvedimento sanzionatorio del Garante.</a:t>
            </a:r>
          </a:p>
          <a:p>
            <a:pPr>
              <a:spcBef>
                <a:spcPts val="800"/>
              </a:spcBef>
              <a:defRPr sz="1300" b="1">
                <a:solidFill>
                  <a:srgbClr val="0F172A"/>
                </a:solidFill>
              </a:defRPr>
            </a:pPr>
            <a:r>
              <a:t>• Vera Redazione Vettoriale</a:t>
            </a:r>
          </a:p>
          <a:p>
            <a:pPr>
              <a:spcAft>
                <a:spcPts val="600"/>
              </a:spcAft>
              <a:defRPr sz="1100">
                <a:solidFill>
                  <a:srgbClr val="64748B"/>
                </a:solidFill>
              </a:defRPr>
            </a:pPr>
            <a:r>
              <a:t>  Esportazione immediata del PDF corretto con 'omissis' irreversibili pronto per la firma digitale.</a:t>
            </a:r>
          </a:p>
        </p:txBody>
      </p:sp>
      <p:sp>
        <p:nvSpPr>
          <p:cNvPr id="8" name="Rounded Rectangle 7"/>
          <p:cNvSpPr/>
          <p:nvPr/>
        </p:nvSpPr>
        <p:spPr>
          <a:xfrm>
            <a:off x="6217920" y="1645920"/>
            <a:ext cx="52120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92240" y="1920240"/>
            <a:ext cx="4663440" cy="731520"/>
          </a:xfrm>
          <a:prstGeom prst="roundRect">
            <a:avLst/>
          </a:prstGeom>
          <a:solidFill>
            <a:srgbClr val="ECFDF5"/>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0B981"/>
                </a:solidFill>
              </a:defRPr>
            </a:pPr>
            <a:r>
              <a:t>2. Watchdog Continuo (Demone Asincrono)</a:t>
            </a:r>
          </a:p>
          <a:p>
            <a:pPr>
              <a:defRPr sz="850" b="1">
                <a:solidFill>
                  <a:srgbClr val="64748B"/>
                </a:solidFill>
              </a:defRPr>
            </a:pPr>
            <a:r>
              <a:t>IL SOC DELLA PRIVACY H24 PER IL DPO E LA SMART CITY</a:t>
            </a:r>
          </a:p>
        </p:txBody>
      </p:sp>
      <p:sp>
        <p:nvSpPr>
          <p:cNvPr id="10" name="TextBox 9"/>
          <p:cNvSpPr txBox="1"/>
          <p:nvPr/>
        </p:nvSpPr>
        <p:spPr>
          <a:xfrm>
            <a:off x="6492240" y="2834640"/>
            <a:ext cx="4663440" cy="3017520"/>
          </a:xfrm>
          <a:prstGeom prst="rect">
            <a:avLst/>
          </a:prstGeom>
          <a:noFill/>
        </p:spPr>
        <p:txBody>
          <a:bodyPr wrap="square">
            <a:spAutoFit/>
          </a:bodyPr>
          <a:lstStyle/>
          <a:p>
            <a:pPr>
              <a:spcBef>
                <a:spcPts val="800"/>
              </a:spcBef>
              <a:defRPr sz="1300" b="1">
                <a:solidFill>
                  <a:srgbClr val="0F172A"/>
                </a:solidFill>
              </a:defRPr>
            </a:pPr>
            <a:r>
              <a:t>• Monitoraggio Portali &amp; Flussi Web</a:t>
            </a:r>
          </a:p>
          <a:p>
            <a:pPr>
              <a:spcAft>
                <a:spcPts val="600"/>
              </a:spcAft>
              <a:defRPr sz="1100">
                <a:solidFill>
                  <a:srgbClr val="64748B"/>
                </a:solidFill>
              </a:defRPr>
            </a:pPr>
            <a:r>
              <a:t>  Un demone indipendente scansiona in loop gli albi pretori comunali e i flussi di pubblicazione.</a:t>
            </a:r>
          </a:p>
          <a:p>
            <a:pPr>
              <a:spcBef>
                <a:spcPts val="800"/>
              </a:spcBef>
              <a:defRPr sz="1300" b="1">
                <a:solidFill>
                  <a:srgbClr val="0F172A"/>
                </a:solidFill>
              </a:defRPr>
            </a:pPr>
            <a:r>
              <a:t>• Incidental Management Istantaneo</a:t>
            </a:r>
          </a:p>
          <a:p>
            <a:pPr>
              <a:spcAft>
                <a:spcPts val="600"/>
              </a:spcAft>
              <a:defRPr sz="1100">
                <a:solidFill>
                  <a:srgbClr val="64748B"/>
                </a:solidFill>
              </a:defRPr>
            </a:pPr>
            <a:r>
              <a:t>  Rileva violazioni già online e notifica in tempo reale il DPO con indice di priorità.</a:t>
            </a:r>
          </a:p>
          <a:p>
            <a:pPr>
              <a:spcBef>
                <a:spcPts val="800"/>
              </a:spcBef>
              <a:defRPr sz="1300" b="1">
                <a:solidFill>
                  <a:srgbClr val="0F172A"/>
                </a:solidFill>
              </a:defRPr>
            </a:pPr>
            <a:r>
              <a:t>• Countdown Esposizione Rimanente</a:t>
            </a:r>
          </a:p>
          <a:p>
            <a:pPr>
              <a:spcAft>
                <a:spcPts val="600"/>
              </a:spcAft>
              <a:defRPr sz="1100">
                <a:solidFill>
                  <a:srgbClr val="64748B"/>
                </a:solidFill>
              </a:defRPr>
            </a:pPr>
            <a:r>
              <a:t>  Calcola i giorni residui di affissione all'albo per intervenire prima delle segnalazioni all'Autorità.</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000" b="1">
                <a:solidFill>
                  <a:srgbClr val="2563EB"/>
                </a:solidFill>
              </a:defRPr>
            </a:pPr>
            <a:r>
              <a:t>INGEGNERIA DELLA PRIVACY (FOCUS DELOITTE &amp; DXC)</a:t>
            </a:r>
          </a:p>
        </p:txBody>
      </p:sp>
      <p:sp>
        <p:nvSpPr>
          <p:cNvPr id="4" name="TextBox 3"/>
          <p:cNvSpPr txBox="1"/>
          <p:nvPr/>
        </p:nvSpPr>
        <p:spPr>
          <a:xfrm>
            <a:off x="731520" y="777240"/>
            <a:ext cx="10698480" cy="640080"/>
          </a:xfrm>
          <a:prstGeom prst="rect">
            <a:avLst/>
          </a:prstGeom>
          <a:noFill/>
        </p:spPr>
        <p:txBody>
          <a:bodyPr wrap="square">
            <a:spAutoFit/>
          </a:bodyPr>
          <a:lstStyle/>
          <a:p>
            <a:pPr>
              <a:defRPr sz="2400" b="1">
                <a:solidFill>
                  <a:srgbClr val="0F172A"/>
                </a:solidFill>
              </a:defRPr>
            </a:pPr>
            <a:r>
              <a:t>Architettura 'Zero-Knowledge AI' &amp; Trustworthy AI</a:t>
            </a:r>
          </a:p>
        </p:txBody>
      </p:sp>
      <p:sp>
        <p:nvSpPr>
          <p:cNvPr id="5" name="Rounded Rectangle 4"/>
          <p:cNvSpPr/>
          <p:nvPr/>
        </p:nvSpPr>
        <p:spPr>
          <a:xfrm>
            <a:off x="731520" y="1554480"/>
            <a:ext cx="10698480" cy="5486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defRPr>
            </a:pPr>
            <a:r>
              <a:t>ZERO DATA LEAKAGE: L'INTELLIGENZA ARTIFICIALE VEDE IL CONTESTO NORMATIVO, MAI L'IDENTITÀ REALE</a:t>
            </a:r>
          </a:p>
        </p:txBody>
      </p:sp>
      <p:sp>
        <p:nvSpPr>
          <p:cNvPr id="6" name="Rounded Rectangle 5"/>
          <p:cNvSpPr/>
          <p:nvPr/>
        </p:nvSpPr>
        <p:spPr>
          <a:xfrm>
            <a:off x="731520" y="2377440"/>
            <a:ext cx="2560320" cy="356616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tIns="548640" lIns="182880" rIns="182880" wrap="square"/>
          <a:lstStyle/>
          <a:p>
            <a:pPr algn="ctr">
              <a:spcAft>
                <a:spcPts val="1000"/>
              </a:spcAft>
              <a:defRPr sz="1300" b="1">
                <a:solidFill>
                  <a:srgbClr val="0F172A"/>
                </a:solidFill>
              </a:defRPr>
            </a:pPr>
            <a:r>
              <a:t>PDF Amministrativo</a:t>
            </a:r>
          </a:p>
          <a:p>
            <a:pPr>
              <a:defRPr sz="1100">
                <a:solidFill>
                  <a:srgbClr val="64748B"/>
                </a:solidFill>
              </a:defRPr>
            </a:pPr>
            <a:r>
              <a:t>Estrazione del testo nativo con coordinate vettoriali esatte.</a:t>
            </a:r>
          </a:p>
        </p:txBody>
      </p:sp>
      <p:sp>
        <p:nvSpPr>
          <p:cNvPr id="7" name="Rectangle 6"/>
          <p:cNvSpPr/>
          <p:nvPr/>
        </p:nvSpPr>
        <p:spPr>
          <a:xfrm>
            <a:off x="731520" y="2377440"/>
            <a:ext cx="2560320" cy="4114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 Ingestion Documentale</a:t>
            </a:r>
          </a:p>
        </p:txBody>
      </p:sp>
      <p:sp>
        <p:nvSpPr>
          <p:cNvPr id="8" name="Rounded Rectangle 7"/>
          <p:cNvSpPr/>
          <p:nvPr/>
        </p:nvSpPr>
        <p:spPr>
          <a:xfrm>
            <a:off x="3429000" y="2377440"/>
            <a:ext cx="2560320" cy="356616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tIns="548640" lIns="182880" rIns="182880" wrap="square"/>
          <a:lstStyle/>
          <a:p>
            <a:pPr algn="ctr">
              <a:spcAft>
                <a:spcPts val="1000"/>
              </a:spcAft>
              <a:defRPr sz="1300" b="1">
                <a:solidFill>
                  <a:srgbClr val="0F172A"/>
                </a:solidFill>
              </a:defRPr>
            </a:pPr>
            <a:r>
              <a:t>Engine Locale Off-line</a:t>
            </a:r>
          </a:p>
          <a:p>
            <a:pPr>
              <a:defRPr sz="1100">
                <a:solidFill>
                  <a:srgbClr val="64748B"/>
                </a:solidFill>
              </a:defRPr>
            </a:pPr>
            <a:r>
              <a:t>Regex con omocodia + stdnum (CF, IBAN) + spaCy NER. I dati diventano [PERSONA_1], [CF_1].</a:t>
            </a:r>
          </a:p>
        </p:txBody>
      </p:sp>
      <p:sp>
        <p:nvSpPr>
          <p:cNvPr id="9" name="Rectangle 8"/>
          <p:cNvSpPr/>
          <p:nvPr/>
        </p:nvSpPr>
        <p:spPr>
          <a:xfrm>
            <a:off x="3429000" y="2377440"/>
            <a:ext cx="2560320" cy="4114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2. Pseudonimizzazione</a:t>
            </a:r>
          </a:p>
        </p:txBody>
      </p:sp>
      <p:sp>
        <p:nvSpPr>
          <p:cNvPr id="10" name="Rounded Rectangle 9"/>
          <p:cNvSpPr/>
          <p:nvPr/>
        </p:nvSpPr>
        <p:spPr>
          <a:xfrm>
            <a:off x="6126480" y="2377440"/>
            <a:ext cx="2560320" cy="356616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548640" lIns="182880" rIns="182880" wrap="square"/>
          <a:lstStyle/>
          <a:p>
            <a:pPr algn="ctr">
              <a:spcAft>
                <a:spcPts val="1000"/>
              </a:spcAft>
              <a:defRPr sz="1300" b="1">
                <a:solidFill>
                  <a:srgbClr val="0F172A"/>
                </a:solidFill>
              </a:defRPr>
            </a:pPr>
            <a:r>
              <a:t>Zero-Knowledge LLM</a:t>
            </a:r>
          </a:p>
          <a:p>
            <a:pPr>
              <a:defRPr sz="1100">
                <a:solidFill>
                  <a:srgbClr val="64748B"/>
                </a:solidFill>
              </a:defRPr>
            </a:pPr>
            <a:r>
              <a:t>L'LLM ragiona su token astratti e consulta la knowledge base delle ordinanze del Garante Privacy.</a:t>
            </a:r>
          </a:p>
        </p:txBody>
      </p:sp>
      <p:sp>
        <p:nvSpPr>
          <p:cNvPr id="11" name="Rectangle 10"/>
          <p:cNvSpPr/>
          <p:nvPr/>
        </p:nvSpPr>
        <p:spPr>
          <a:xfrm>
            <a:off x="6126480" y="2377440"/>
            <a:ext cx="2560320" cy="4114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3. Reasoning &amp; RAG</a:t>
            </a:r>
          </a:p>
        </p:txBody>
      </p:sp>
      <p:sp>
        <p:nvSpPr>
          <p:cNvPr id="12" name="Rounded Rectangle 11"/>
          <p:cNvSpPr/>
          <p:nvPr/>
        </p:nvSpPr>
        <p:spPr>
          <a:xfrm>
            <a:off x="8823960" y="2377440"/>
            <a:ext cx="2560320" cy="356616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548640" lIns="182880" rIns="182880" wrap="square"/>
          <a:lstStyle/>
          <a:p>
            <a:pPr algn="ctr">
              <a:spcAft>
                <a:spcPts val="1000"/>
              </a:spcAft>
              <a:defRPr sz="1300" b="1">
                <a:solidFill>
                  <a:srgbClr val="0F172A"/>
                </a:solidFill>
              </a:defRPr>
            </a:pPr>
            <a:r>
              <a:t>PyMuPDF Vettoriale</a:t>
            </a:r>
          </a:p>
          <a:p>
            <a:pPr>
              <a:defRPr sz="1100">
                <a:solidFill>
                  <a:srgbClr val="64748B"/>
                </a:solidFill>
              </a:defRPr>
            </a:pPr>
            <a:r>
              <a:t>Distruzione fisica e irreversibile dei dati dal codice binario del PDF. Non è un rettangolo grafico.</a:t>
            </a:r>
          </a:p>
        </p:txBody>
      </p:sp>
      <p:sp>
        <p:nvSpPr>
          <p:cNvPr id="13" name="Rectangle 12"/>
          <p:cNvSpPr/>
          <p:nvPr/>
        </p:nvSpPr>
        <p:spPr>
          <a:xfrm>
            <a:off x="8823960" y="2377440"/>
            <a:ext cx="2560320" cy="4114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4. True Redaction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000" b="1">
                <a:solidFill>
                  <a:srgbClr val="2563EB"/>
                </a:solidFill>
              </a:defRPr>
            </a:pPr>
            <a:r>
              <a:t>ACCOUNTABILITY &amp; AUDIT TRAIL (FOCUS DELOITTE)</a:t>
            </a:r>
          </a:p>
        </p:txBody>
      </p:sp>
      <p:sp>
        <p:nvSpPr>
          <p:cNvPr id="4" name="TextBox 3"/>
          <p:cNvSpPr txBox="1"/>
          <p:nvPr/>
        </p:nvSpPr>
        <p:spPr>
          <a:xfrm>
            <a:off x="731520" y="777240"/>
            <a:ext cx="10698480" cy="640080"/>
          </a:xfrm>
          <a:prstGeom prst="rect">
            <a:avLst/>
          </a:prstGeom>
          <a:noFill/>
        </p:spPr>
        <p:txBody>
          <a:bodyPr wrap="square">
            <a:spAutoFit/>
          </a:bodyPr>
          <a:lstStyle/>
          <a:p>
            <a:pPr>
              <a:defRPr sz="2400" b="1">
                <a:solidFill>
                  <a:srgbClr val="0F172A"/>
                </a:solidFill>
              </a:defRPr>
            </a:pPr>
            <a:r>
              <a:t>Dall'Allarme alla Risoluzione in 3 Clic</a:t>
            </a:r>
          </a:p>
        </p:txBody>
      </p:sp>
      <p:sp>
        <p:nvSpPr>
          <p:cNvPr id="5" name="Rounded Rectangle 4"/>
          <p:cNvSpPr/>
          <p:nvPr/>
        </p:nvSpPr>
        <p:spPr>
          <a:xfrm>
            <a:off x="731520" y="1645920"/>
            <a:ext cx="33832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tIns="822960" lIns="274320" rIns="274320" wrap="square"/>
          <a:lstStyle/>
          <a:p>
            <a:pPr algn="ctr">
              <a:spcAft>
                <a:spcPts val="600"/>
              </a:spcAft>
              <a:defRPr sz="1600" b="1">
                <a:solidFill>
                  <a:srgbClr val="0F172A"/>
                </a:solidFill>
              </a:defRPr>
            </a:pPr>
            <a:r>
              <a:t>Fase 1: Alert Decisionale</a:t>
            </a:r>
          </a:p>
          <a:p>
            <a:pPr>
              <a:spcAft>
                <a:spcPts val="1400"/>
              </a:spcAft>
              <a:defRPr sz="1000" b="1">
                <a:solidFill>
                  <a:srgbClr val="64748B"/>
                </a:solidFill>
              </a:defRPr>
            </a:pPr>
            <a:r>
              <a:t>LIVE MONITORING FEED</a:t>
            </a:r>
          </a:p>
          <a:p>
            <a:pPr>
              <a:defRPr sz="1200">
                <a:solidFill>
                  <a:srgbClr val="64748B"/>
                </a:solidFill>
              </a:defRPr>
            </a:pPr>
            <a:r>
              <a:t>Il demone o l'operatore intercettano una determina per buoni spesa con ISEE ed esiti in chiaro. Semaforo Rosso immediato.</a:t>
            </a:r>
          </a:p>
        </p:txBody>
      </p:sp>
      <p:sp>
        <p:nvSpPr>
          <p:cNvPr id="6" name="Rounded Rectangle 5"/>
          <p:cNvSpPr/>
          <p:nvPr/>
        </p:nvSpPr>
        <p:spPr>
          <a:xfrm>
            <a:off x="914400" y="1828800"/>
            <a:ext cx="3017520" cy="411480"/>
          </a:xfrm>
          <a:prstGeom prst="roundRect">
            <a:avLst/>
          </a:prstGeom>
          <a:solidFill>
            <a:srgbClr val="F8FAFC"/>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EF4444"/>
                </a:solidFill>
              </a:defRPr>
            </a:pPr>
            <a:r>
              <a:t>Status: Non Conforme (Gravità Alta)</a:t>
            </a:r>
          </a:p>
        </p:txBody>
      </p:sp>
      <p:sp>
        <p:nvSpPr>
          <p:cNvPr id="7" name="Rounded Rectangle 6"/>
          <p:cNvSpPr/>
          <p:nvPr/>
        </p:nvSpPr>
        <p:spPr>
          <a:xfrm>
            <a:off x="4389120" y="1645920"/>
            <a:ext cx="33832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tIns="822960" lIns="274320" rIns="274320" wrap="square"/>
          <a:lstStyle/>
          <a:p>
            <a:pPr algn="ctr">
              <a:spcAft>
                <a:spcPts val="600"/>
              </a:spcAft>
              <a:defRPr sz="1600" b="1">
                <a:solidFill>
                  <a:srgbClr val="0F172A"/>
                </a:solidFill>
              </a:defRPr>
            </a:pPr>
            <a:r>
              <a:t>Fase 2: RAG sui Precedenti</a:t>
            </a:r>
          </a:p>
          <a:p>
            <a:pPr>
              <a:spcAft>
                <a:spcPts val="1400"/>
              </a:spcAft>
              <a:defRPr sz="1000" b="1">
                <a:solidFill>
                  <a:srgbClr val="64748B"/>
                </a:solidFill>
              </a:defRPr>
            </a:pPr>
            <a:r>
              <a:t>EXPLAINABLE COMPLIANCE</a:t>
            </a:r>
          </a:p>
          <a:p>
            <a:pPr>
              <a:defRPr sz="1200">
                <a:solidFill>
                  <a:srgbClr val="64748B"/>
                </a:solidFill>
              </a:defRPr>
            </a:pPr>
            <a:r>
              <a:t>L'IA cita l'Art. 26 c. 4 D.Lgs. 33/2013 e abbina il caso reale del Comune di Tricase (sanzione comminata dal Garante: € 15.000).</a:t>
            </a:r>
          </a:p>
        </p:txBody>
      </p:sp>
      <p:sp>
        <p:nvSpPr>
          <p:cNvPr id="8" name="Rounded Rectangle 7"/>
          <p:cNvSpPr/>
          <p:nvPr/>
        </p:nvSpPr>
        <p:spPr>
          <a:xfrm>
            <a:off x="4572000" y="1828800"/>
            <a:ext cx="3017520" cy="411480"/>
          </a:xfrm>
          <a:prstGeom prst="roundRect">
            <a:avLst/>
          </a:prstGeom>
          <a:solidFill>
            <a:srgbClr val="F8FAFC"/>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59E0B"/>
                </a:solidFill>
              </a:defRPr>
            </a:pPr>
            <a:r>
              <a:t>Precedente Storico: GPDP 9712044</a:t>
            </a:r>
          </a:p>
        </p:txBody>
      </p:sp>
      <p:sp>
        <p:nvSpPr>
          <p:cNvPr id="9" name="Rounded Rectangle 8"/>
          <p:cNvSpPr/>
          <p:nvPr/>
        </p:nvSpPr>
        <p:spPr>
          <a:xfrm>
            <a:off x="8046720" y="1645920"/>
            <a:ext cx="33832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tIns="822960" lIns="274320" rIns="274320" wrap="square"/>
          <a:lstStyle/>
          <a:p>
            <a:pPr algn="ctr">
              <a:spcAft>
                <a:spcPts val="600"/>
              </a:spcAft>
              <a:defRPr sz="1600" b="1">
                <a:solidFill>
                  <a:srgbClr val="0F172A"/>
                </a:solidFill>
              </a:defRPr>
            </a:pPr>
            <a:r>
              <a:t>Fase 3: Bonifica &amp; Sostituzione</a:t>
            </a:r>
          </a:p>
          <a:p>
            <a:pPr>
              <a:spcAft>
                <a:spcPts val="1400"/>
              </a:spcAft>
              <a:defRPr sz="1000" b="1">
                <a:solidFill>
                  <a:srgbClr val="64748B"/>
                </a:solidFill>
              </a:defRPr>
            </a:pPr>
            <a:r>
              <a:t>REDACTION SIDE-BY-SIDE</a:t>
            </a:r>
          </a:p>
          <a:p>
            <a:pPr>
              <a:defRPr sz="1200">
                <a:solidFill>
                  <a:srgbClr val="64748B"/>
                </a:solidFill>
              </a:defRPr>
            </a:pPr>
            <a:r>
              <a:t>Generazione istantanea del PDF corretto con omissis. Download immediato e tracciamento dell'evento di risoluzione nei log di audit.</a:t>
            </a:r>
          </a:p>
        </p:txBody>
      </p:sp>
      <p:sp>
        <p:nvSpPr>
          <p:cNvPr id="10" name="Rounded Rectangle 9"/>
          <p:cNvSpPr/>
          <p:nvPr/>
        </p:nvSpPr>
        <p:spPr>
          <a:xfrm>
            <a:off x="8229600" y="1828800"/>
            <a:ext cx="3017520" cy="411480"/>
          </a:xfrm>
          <a:prstGeom prst="roundRect">
            <a:avLst/>
          </a:prstGeom>
          <a:solidFill>
            <a:srgbClr val="F8FAFC"/>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10B981"/>
                </a:solidFill>
              </a:defRPr>
            </a:pPr>
            <a:r>
              <a:t>Azioni: Risolvi / Sostituisci Atto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000" b="1">
                <a:solidFill>
                  <a:srgbClr val="2563EB"/>
                </a:solidFill>
              </a:defRPr>
            </a:pPr>
            <a:r>
              <a:t>SYSTEM INTEGRATION &amp; GTM (FOCUS DXC &amp; DELOITTE)</a:t>
            </a:r>
          </a:p>
        </p:txBody>
      </p:sp>
      <p:sp>
        <p:nvSpPr>
          <p:cNvPr id="4" name="TextBox 3"/>
          <p:cNvSpPr txBox="1"/>
          <p:nvPr/>
        </p:nvSpPr>
        <p:spPr>
          <a:xfrm>
            <a:off x="731520" y="777240"/>
            <a:ext cx="10698480" cy="640080"/>
          </a:xfrm>
          <a:prstGeom prst="rect">
            <a:avLst/>
          </a:prstGeom>
          <a:noFill/>
        </p:spPr>
        <p:txBody>
          <a:bodyPr wrap="square">
            <a:spAutoFit/>
          </a:bodyPr>
          <a:lstStyle/>
          <a:p>
            <a:pPr>
              <a:defRPr sz="2400" b="1">
                <a:solidFill>
                  <a:srgbClr val="0F172A"/>
                </a:solidFill>
              </a:defRPr>
            </a:pPr>
            <a:r>
              <a:t>Modello B2G e Opportunità di Integrazione Enterprise</a:t>
            </a:r>
          </a:p>
        </p:txBody>
      </p:sp>
      <p:sp>
        <p:nvSpPr>
          <p:cNvPr id="5" name="Rounded Rectangle 4"/>
          <p:cNvSpPr/>
          <p:nvPr/>
        </p:nvSpPr>
        <p:spPr>
          <a:xfrm>
            <a:off x="731520" y="1645920"/>
            <a:ext cx="33832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tIns="365760" lIns="274320" rIns="274320" wrap="square"/>
          <a:lstStyle/>
          <a:p>
            <a:pPr algn="ctr">
              <a:spcAft>
                <a:spcPts val="800"/>
              </a:spcAft>
              <a:defRPr sz="1700" b="1">
                <a:solidFill>
                  <a:srgbClr val="2563EB"/>
                </a:solidFill>
              </a:defRPr>
            </a:pPr>
            <a:r>
              <a:t>Middleware API Plug-and-Play</a:t>
            </a:r>
          </a:p>
          <a:p>
            <a:pPr>
              <a:spcAft>
                <a:spcPts val="1400"/>
              </a:spcAft>
              <a:defRPr sz="1200" b="1">
                <a:solidFill>
                  <a:srgbClr val="0F172A"/>
                </a:solidFill>
              </a:defRPr>
            </a:pPr>
            <a:r>
              <a:t>Add-on per i Grandi System Integrator</a:t>
            </a:r>
          </a:p>
          <a:p>
            <a:pPr>
              <a:defRPr sz="1150">
                <a:solidFill>
                  <a:srgbClr val="64748B"/>
                </a:solidFill>
              </a:defRPr>
            </a:pPr>
            <a:r>
              <a:t>Non rimpiazziamo i gestionali documentali esistenti (Maggioli, Halley, Engineering): ci integriamo come motore di certificazione e sicurezza per i contratti quadro PA gestiti da partner come DXC.</a:t>
            </a:r>
          </a:p>
        </p:txBody>
      </p:sp>
      <p:sp>
        <p:nvSpPr>
          <p:cNvPr id="6" name="Rectangle 5"/>
          <p:cNvSpPr/>
          <p:nvPr/>
        </p:nvSpPr>
        <p:spPr>
          <a:xfrm>
            <a:off x="731520" y="1645920"/>
            <a:ext cx="3383280"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389120" y="1645920"/>
            <a:ext cx="33832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tIns="365760" lIns="274320" rIns="274320" wrap="square"/>
          <a:lstStyle/>
          <a:p>
            <a:pPr algn="ctr">
              <a:spcAft>
                <a:spcPts val="800"/>
              </a:spcAft>
              <a:defRPr sz="1700" b="1">
                <a:solidFill>
                  <a:srgbClr val="10B981"/>
                </a:solidFill>
              </a:defRPr>
            </a:pPr>
            <a:r>
              <a:t>Privacy-as-a-Service (PaaS)</a:t>
            </a:r>
          </a:p>
          <a:p>
            <a:pPr>
              <a:spcAft>
                <a:spcPts val="1400"/>
              </a:spcAft>
              <a:defRPr sz="1200" b="1">
                <a:solidFill>
                  <a:srgbClr val="0F172A"/>
                </a:solidFill>
              </a:defRPr>
            </a:pPr>
            <a:r>
              <a:t>Supporto Strutturato al DPO</a:t>
            </a:r>
          </a:p>
          <a:p>
            <a:pPr>
              <a:defRPr sz="1150">
                <a:solidFill>
                  <a:srgbClr val="64748B"/>
                </a:solidFill>
              </a:defRPr>
            </a:pPr>
            <a:r>
              <a:t>Fornisce ai DPO e agli auditor di Deloitte una console centralizzata con report crittografici SHA-256, retention automatica e piena conformità al principio di accountability (Art. 5.2 GDPR).</a:t>
            </a:r>
          </a:p>
        </p:txBody>
      </p:sp>
      <p:sp>
        <p:nvSpPr>
          <p:cNvPr id="8" name="Rectangle 7"/>
          <p:cNvSpPr/>
          <p:nvPr/>
        </p:nvSpPr>
        <p:spPr>
          <a:xfrm>
            <a:off x="4389120" y="1645920"/>
            <a:ext cx="3383280"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0" y="1645920"/>
            <a:ext cx="338328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tIns="365760" lIns="274320" rIns="274320" wrap="square"/>
          <a:lstStyle/>
          <a:p>
            <a:pPr algn="ctr">
              <a:spcAft>
                <a:spcPts val="800"/>
              </a:spcAft>
              <a:defRPr sz="1700" b="1">
                <a:solidFill>
                  <a:srgbClr val="F59E0B"/>
                </a:solidFill>
              </a:defRPr>
            </a:pPr>
            <a:r>
              <a:t>ROI Matematico per l'Ente</a:t>
            </a:r>
          </a:p>
          <a:p>
            <a:pPr>
              <a:spcAft>
                <a:spcPts val="1400"/>
              </a:spcAft>
              <a:defRPr sz="1200" b="1">
                <a:solidFill>
                  <a:srgbClr val="0F172A"/>
                </a:solidFill>
              </a:defRPr>
            </a:pPr>
            <a:r>
              <a:t>Riduzione del Rischio Sanzionatorio</a:t>
            </a:r>
          </a:p>
          <a:p>
            <a:pPr>
              <a:defRPr sz="1150">
                <a:solidFill>
                  <a:srgbClr val="64748B"/>
                </a:solidFill>
              </a:defRPr>
            </a:pPr>
            <a:r>
              <a:t>Il canone annuale del servizio costa meno di una frazione di una singola sanzione del Garante (€ 10k-50k) o dei costi legali e risarcitori di un contenzioso cittadino.</a:t>
            </a:r>
          </a:p>
        </p:txBody>
      </p:sp>
      <p:sp>
        <p:nvSpPr>
          <p:cNvPr id="10" name="Rectangle 9"/>
          <p:cNvSpPr/>
          <p:nvPr/>
        </p:nvSpPr>
        <p:spPr>
          <a:xfrm>
            <a:off x="8046720" y="1645920"/>
            <a:ext cx="3383280" cy="1097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698480" cy="914400"/>
          </a:xfrm>
          <a:prstGeom prst="rect">
            <a:avLst/>
          </a:prstGeom>
          <a:noFill/>
        </p:spPr>
        <p:txBody>
          <a:bodyPr wrap="none">
            <a:spAutoFit/>
          </a:bodyPr>
          <a:lstStyle/>
          <a:p>
            <a:pPr>
              <a:defRPr sz="3000" b="1">
                <a:solidFill>
                  <a:srgbClr val="FFFFFF"/>
                </a:solidFill>
              </a:defRPr>
            </a:pPr>
            <a:r>
              <a:t>Dall'Albo Pretorio alla Sicurezza dei Dati nella Smart City</a:t>
            </a:r>
          </a:p>
        </p:txBody>
      </p:sp>
      <p:sp>
        <p:nvSpPr>
          <p:cNvPr id="4" name="Rounded Rectangle 3"/>
          <p:cNvSpPr/>
          <p:nvPr/>
        </p:nvSpPr>
        <p:spPr>
          <a:xfrm>
            <a:off x="731520" y="2011680"/>
            <a:ext cx="3383280" cy="292608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tIns="274320" lIns="228600" rIns="228600" wrap="square"/>
          <a:lstStyle/>
          <a:p>
            <a:pPr algn="ctr">
              <a:spcAft>
                <a:spcPts val="600"/>
              </a:spcAft>
              <a:defRPr sz="1300" b="1">
                <a:solidFill>
                  <a:srgbClr val="2563EB"/>
                </a:solidFill>
              </a:defRPr>
            </a:pPr>
            <a:r>
              <a:t>Q3 2026</a:t>
            </a:r>
          </a:p>
          <a:p>
            <a:pPr>
              <a:spcAft>
                <a:spcPts val="1000"/>
              </a:spcAft>
              <a:defRPr sz="1300" b="1">
                <a:solidFill>
                  <a:srgbClr val="FFFFFF"/>
                </a:solidFill>
              </a:defRPr>
            </a:pPr>
            <a:r>
              <a:t>OCR Locale On-Premise</a:t>
            </a:r>
          </a:p>
          <a:p>
            <a:pPr>
              <a:defRPr sz="1100">
                <a:solidFill>
                  <a:srgbClr val="CBD5E1"/>
                </a:solidFill>
              </a:defRPr>
            </a:pPr>
            <a:r>
              <a:t>Estensione dell'ingestion ad atti storici cartacei e scansioni senza inviare immagini a endpoint esterni.</a:t>
            </a:r>
          </a:p>
        </p:txBody>
      </p:sp>
      <p:sp>
        <p:nvSpPr>
          <p:cNvPr id="5" name="Rounded Rectangle 4"/>
          <p:cNvSpPr/>
          <p:nvPr/>
        </p:nvSpPr>
        <p:spPr>
          <a:xfrm>
            <a:off x="4389120" y="2011680"/>
            <a:ext cx="3383280" cy="292608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tIns="274320" lIns="228600" rIns="228600" wrap="square"/>
          <a:lstStyle/>
          <a:p>
            <a:pPr algn="ctr">
              <a:spcAft>
                <a:spcPts val="600"/>
              </a:spcAft>
              <a:defRPr sz="1300" b="1">
                <a:solidFill>
                  <a:srgbClr val="06B6D4"/>
                </a:solidFill>
              </a:defRPr>
            </a:pPr>
            <a:r>
              <a:t>Q4 2026 (Focus Enel)</a:t>
            </a:r>
          </a:p>
          <a:p>
            <a:pPr>
              <a:spcAft>
                <a:spcPts val="1000"/>
              </a:spcAft>
              <a:defRPr sz="1300" b="1">
                <a:solidFill>
                  <a:srgbClr val="FFFFFF"/>
                </a:solidFill>
              </a:defRPr>
            </a:pPr>
            <a:r>
              <a:t>Auditing IoT &amp; Smart Metering</a:t>
            </a:r>
          </a:p>
          <a:p>
            <a:pPr>
              <a:defRPr sz="1100">
                <a:solidFill>
                  <a:srgbClr val="CBD5E1"/>
                </a:solidFill>
              </a:defRPr>
            </a:pPr>
            <a:r>
              <a:t>Estensione della pipeline core ai flussi di telemetria urbana, log di smart meter e registri di videosorveglianza urbana.</a:t>
            </a:r>
          </a:p>
        </p:txBody>
      </p:sp>
      <p:sp>
        <p:nvSpPr>
          <p:cNvPr id="6" name="Rounded Rectangle 5"/>
          <p:cNvSpPr/>
          <p:nvPr/>
        </p:nvSpPr>
        <p:spPr>
          <a:xfrm>
            <a:off x="8046720" y="2011680"/>
            <a:ext cx="3383280" cy="292608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274320" lIns="228600" rIns="228600" wrap="square"/>
          <a:lstStyle/>
          <a:p>
            <a:pPr algn="ctr">
              <a:spcAft>
                <a:spcPts val="600"/>
              </a:spcAft>
              <a:defRPr sz="1300" b="1">
                <a:solidFill>
                  <a:srgbClr val="10B981"/>
                </a:solidFill>
              </a:defRPr>
            </a:pPr>
            <a:r>
              <a:t>Compliance Nazionale</a:t>
            </a:r>
          </a:p>
          <a:p>
            <a:pPr>
              <a:spcAft>
                <a:spcPts val="1000"/>
              </a:spcAft>
              <a:defRPr sz="1300" b="1">
                <a:solidFill>
                  <a:srgbClr val="FFFFFF"/>
                </a:solidFill>
              </a:defRPr>
            </a:pPr>
            <a:r>
              <a:t>Qualificazione ACN Cloud PA</a:t>
            </a:r>
          </a:p>
          <a:p>
            <a:pPr>
              <a:defRPr sz="1100">
                <a:solidFill>
                  <a:srgbClr val="CBD5E1"/>
                </a:solidFill>
              </a:defRPr>
            </a:pPr>
            <a:r>
              <a:t>Ospitalità su infrastruttura sovereign cloud certificata dall'Agenzia per la Cybersicurezza Nazionale.</a:t>
            </a:r>
          </a:p>
        </p:txBody>
      </p:sp>
      <p:sp>
        <p:nvSpPr>
          <p:cNvPr id="7" name="Rounded Rectangle 6"/>
          <p:cNvSpPr/>
          <p:nvPr/>
        </p:nvSpPr>
        <p:spPr>
          <a:xfrm>
            <a:off x="731520" y="5303520"/>
            <a:ext cx="10698480" cy="1005840"/>
          </a:xfrm>
          <a:prstGeom prst="roundRect">
            <a:avLst/>
          </a:prstGeom>
          <a:solidFill>
            <a:srgbClr val="1E293B"/>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lIns="274320" tIns="182880"/>
          <a:lstStyle/>
          <a:p>
            <a:pPr algn="ctr">
              <a:defRPr sz="1400" b="1">
                <a:solidFill>
                  <a:srgbClr val="06B6D4"/>
                </a:solidFill>
              </a:defRPr>
            </a:pPr>
            <a:r>
              <a:t>Team di Sviluppo Albo Sicuro — Campionato Universitario AI (DIGITA Academy / AI2B)</a:t>
            </a:r>
          </a:p>
          <a:p>
            <a:pPr>
              <a:defRPr sz="1100">
                <a:solidFill>
                  <a:srgbClr val="CBD5E1"/>
                </a:solidFill>
              </a:defRPr>
            </a:pPr>
            <a:r>
              <a:t>La vera digitalizzazione di una Smart City tutela i dati dei cittadini mentre rende i servizi più trasparenti e intelligenti. Grazie!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